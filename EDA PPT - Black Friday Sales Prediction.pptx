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8" r:id="rId9"/>
    <p:sldId id="264" r:id="rId10"/>
    <p:sldId id="269" r:id="rId11"/>
    <p:sldId id="265" r:id="rId12"/>
    <p:sldId id="270" r:id="rId13"/>
    <p:sldId id="266" r:id="rId14"/>
    <p:sldId id="271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EE70A-AB18-40BA-8573-E0E6C90E2F9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92F1BF-95FB-4F53-9E61-F9D335B3A3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251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8D31-D1CB-83BF-0F8F-7EADCCE260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53649F-8670-B147-63BF-C38158E5A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DFE35-CF74-2BB6-79FB-9732AEAF0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E43B1-B41C-4B65-E279-1F3095D5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9489A-225E-DC3E-F6B9-26120AA9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419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8F13D-372B-80DC-FD01-47D906A9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818CA-4698-3A8B-6163-3566D209D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93BD2-0490-14E7-6168-DBEDB22CB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6935-3D0F-2D86-5572-D96A4B71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1EF76-4083-31C9-FE85-355634E4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75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B834-DFAC-CCB7-32E1-F77F0A99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A9628-FC18-6DB9-291A-EDBAE50FE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484F3-9FA9-2C17-9DD2-FA1090A29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10EA1-8139-DB65-20DB-BC41FDAB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C6A54-4B7B-3DC8-FA4A-82C7CBA4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76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F6698-16E7-62F9-4C89-B64CCB67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F6C3A-1C62-F8D6-18B9-0EFF89E45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F2242A-EB00-F36F-E464-ECBAAAFD31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D96AD-DE5F-E38C-06F8-F989E47D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7837A-3385-5AA5-E06B-837E7B86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074A8-F863-DA85-0B2B-7FB3B4EE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18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2A12-2B46-5310-7F07-EEF0C2CC8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F7AA6C-9B86-FC85-CE4B-904261134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AE5184-6EA4-BA65-A195-BBA1DA3AB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E5A49-A333-10C3-D205-985CBFD0A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9FF6EC-23CA-82BB-93FF-11D04B8BC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86FC74-659D-C86E-D4CB-402A6EA88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DA29F-6777-AE0E-66A3-9C653479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432F2-59D3-41EB-574E-A75CCD37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71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ED8DC-5846-5988-0B21-FD1188C3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816296-6785-772F-3AD6-76908C1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F9AF8-80AA-B4CF-8220-E39D9C31A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E7181-87AB-8A9E-CBA4-689125A0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479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B19D8D-1285-E9B3-1307-15456188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648ACC-4AF2-62E7-5F89-36A091EB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18F26-3427-24C0-2579-E620EAA12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19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7E74-441B-4257-7138-578372A3A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01BB2-C24A-4D2A-8CD8-2BD039F9D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3318B-678E-B278-7C3C-8038ECE07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30351-0613-B491-C158-5168A6941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60A0A-47BD-C3B7-36C8-BF53B00F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949BD-003C-1230-829A-8513379AB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24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753CA-13B2-701E-6404-90B77DFA0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BB6AD-520E-CF93-AF59-5C9367F84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5734E-7DB8-7E95-931A-C52768CB5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FA1C5-F11A-9FEA-E352-F0024672E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F73C3-CB41-97A2-1A56-2E52CBE2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CDF9-2E7D-1D61-03F3-E12EA6239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15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8343-34BF-5685-7AA6-AB26F52CF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9C4A1-7C64-01F2-3DFD-A18BF19C7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1D30A-C9AE-CE40-BBDA-7FA0AAB98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2083F-73E6-C084-7985-8C17EFE2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49AD-8246-23E1-B56A-F84AA15E0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2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23963-E74C-C3DE-4AC9-C77538661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26A8D-5ECB-DC0A-7797-CF8AE562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D0AE5-8E24-CFB9-DC70-2B0DD638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2778B-8098-39CD-36B8-111331AC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B7EA-495C-D30E-DE6D-C5C8EBF7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9590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85486-0C54-2891-EE8E-931051E2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AC203-9F21-24B4-5E24-C91932A6A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719E3-CD31-18B0-B116-F89949781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91D9B-99B8-41D6-A548-915144BE4FC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D6D8B-2257-8734-CB32-EC0568A4B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3542F-32EC-028F-6D97-7D3D0024A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0FF5CC-8D24-44FE-B161-D15EC4154C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25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84480" y="3347049"/>
            <a:ext cx="12100560" cy="3816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FRIDAY SALES PREDICTION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ctr">
              <a:buSzPts val="1800"/>
            </a:pPr>
            <a:endParaRPr lang="en-IN"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lvl="1" algn="ctr">
              <a:buSzPts val="1800"/>
            </a:pPr>
            <a:endParaRPr lang="en-I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Yuktha Polagani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Batch: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[548_B]</a:t>
            </a:r>
          </a:p>
          <a:p>
            <a:pPr lvl="1" algn="ctr">
              <a:buSzPts val="1800"/>
            </a:pPr>
            <a:endParaRPr sz="32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155F0-F822-4761-05FA-6FD8305D0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AE38B-2CA1-168B-E81B-1EB56F57742D}"/>
              </a:ext>
            </a:extLst>
          </p:cNvPr>
          <p:cNvSpPr txBox="1"/>
          <p:nvPr/>
        </p:nvSpPr>
        <p:spPr>
          <a:xfrm>
            <a:off x="838200" y="1432620"/>
            <a:ext cx="997204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Friday is one of the biggest shopping events, generating a large amount of customer transaction data.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Friday sales data to understand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purchasing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identify factors associated with differences in purchase amounts.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focuses on: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categories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and age groups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 patterns</a:t>
            </a:r>
          </a:p>
        </p:txBody>
      </p:sp>
    </p:spTree>
    <p:extLst>
      <p:ext uri="{BB962C8B-B14F-4D97-AF65-F5344CB8AC3E}">
        <p14:creationId xmlns:p14="http://schemas.microsoft.com/office/powerpoint/2010/main" val="412907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8FC30-5B9A-1BF1-B928-15B32D0D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804DA6-95DE-4B7C-A734-75AE5CC9C914}"/>
              </a:ext>
            </a:extLst>
          </p:cNvPr>
          <p:cNvSpPr txBox="1"/>
          <p:nvPr/>
        </p:nvSpPr>
        <p:spPr>
          <a:xfrm>
            <a:off x="838200" y="1540639"/>
            <a:ext cx="1021588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Black Friday Sales Analysis?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Friday generates a large volume of retail transactions.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provides information about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customers, products and purchase amounts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helps identify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purchasing patterns and customer behaviour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can help businesses better understand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 and spending patterns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relevant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 domain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1844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9388-C5A3-A60E-2549-F7C61081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68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6245D-5594-5E55-EC22-AAD22D956522}"/>
              </a:ext>
            </a:extLst>
          </p:cNvPr>
          <p:cNvSpPr txBox="1"/>
          <p:nvPr/>
        </p:nvSpPr>
        <p:spPr>
          <a:xfrm>
            <a:off x="838200" y="1467168"/>
            <a:ext cx="1031748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Friday Sales Dataset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Type: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Retail / E-Commerce Transaction Data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Records: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550,068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Outcome Variable: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CSV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customer demographic information, product category details, city information and transaction-level purchase amounts.</a:t>
            </a:r>
          </a:p>
        </p:txBody>
      </p:sp>
    </p:spTree>
    <p:extLst>
      <p:ext uri="{BB962C8B-B14F-4D97-AF65-F5344CB8AC3E}">
        <p14:creationId xmlns:p14="http://schemas.microsoft.com/office/powerpoint/2010/main" val="1944157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576C-7467-5A1F-D754-FFB058494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17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38B432-EFA3-1C47-252B-3E6D902B0B65}"/>
              </a:ext>
            </a:extLst>
          </p:cNvPr>
          <p:cNvSpPr txBox="1"/>
          <p:nvPr/>
        </p:nvSpPr>
        <p:spPr>
          <a:xfrm>
            <a:off x="828040" y="1480740"/>
            <a:ext cx="5775960" cy="514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550,068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Gender, Age, City Category, Stay in Current City Years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Occupation, Marital Status, Product Categories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Variable:</a:t>
            </a: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information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information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and demographic information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purchase amount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639A80-865F-317D-22FD-E12C73F32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697880"/>
              </p:ext>
            </p:extLst>
          </p:nvPr>
        </p:nvGraphicFramePr>
        <p:xfrm>
          <a:off x="6959600" y="1394130"/>
          <a:ext cx="4749800" cy="5233275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376824">
                  <a:extLst>
                    <a:ext uri="{9D8B030D-6E8A-4147-A177-3AD203B41FA5}">
                      <a16:colId xmlns:a16="http://schemas.microsoft.com/office/drawing/2014/main" val="2448883424"/>
                    </a:ext>
                  </a:extLst>
                </a:gridCol>
                <a:gridCol w="2372976">
                  <a:extLst>
                    <a:ext uri="{9D8B030D-6E8A-4147-A177-3AD203B41FA5}">
                      <a16:colId xmlns:a16="http://schemas.microsoft.com/office/drawing/2014/main" val="1943820893"/>
                    </a:ext>
                  </a:extLst>
                </a:gridCol>
              </a:tblGrid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9579563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customer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78646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identifier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4049893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3044366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age group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138156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city_category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49539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product_category_1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product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7391896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product_category_2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product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6503474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product_category_3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Additional product category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001061"/>
                  </a:ext>
                </a:extLst>
              </a:tr>
              <a:tr h="406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purchase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Transaction purchase 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12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8108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F3801-6C86-BF07-B7BF-4EA499625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976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F84048-D41F-4194-8FBB-FC9465B1ED9D}"/>
              </a:ext>
            </a:extLst>
          </p:cNvPr>
          <p:cNvSpPr txBox="1"/>
          <p:nvPr/>
        </p:nvSpPr>
        <p:spPr>
          <a:xfrm>
            <a:off x="838200" y="1373783"/>
            <a:ext cx="739140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Checks Performed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all column names to lowercase for consistency. </a:t>
            </a: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found in product_category_2 and product_category_3.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Replaced missing values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no additional product category recorded. </a:t>
            </a: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duplicate records were found. </a:t>
            </a: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 method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outliers in purchase.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2,677 potential outlier records were removed.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547,391 records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applicable because purchase is a continuous numerical variable.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259BB8-B3E2-CDD2-3E47-AE74E3C7B6A3}"/>
              </a:ext>
            </a:extLst>
          </p:cNvPr>
          <p:cNvSpPr/>
          <p:nvPr/>
        </p:nvSpPr>
        <p:spPr>
          <a:xfrm>
            <a:off x="9113520" y="1178560"/>
            <a:ext cx="2611120" cy="20015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Before Cleaning</a:t>
            </a:r>
            <a:br>
              <a:rPr lang="en-IN" dirty="0"/>
            </a:br>
            <a:r>
              <a:rPr lang="en-IN" dirty="0"/>
              <a:t>550,068 records</a:t>
            </a:r>
            <a:br>
              <a:rPr lang="en-IN" dirty="0"/>
            </a:br>
            <a:r>
              <a:rPr lang="en-IN" dirty="0"/>
              <a:t>12 columns</a:t>
            </a:r>
            <a:br>
              <a:rPr lang="en-IN" dirty="0"/>
            </a:br>
            <a:r>
              <a:rPr lang="en-IN" dirty="0"/>
              <a:t>Missing values present</a:t>
            </a:r>
            <a:br>
              <a:rPr lang="en-IN" dirty="0"/>
            </a:br>
            <a:r>
              <a:rPr lang="en-IN" dirty="0"/>
              <a:t>2,677 purchase outliers identified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C208A57-E165-040A-7263-1A6CCCCAB262}"/>
              </a:ext>
            </a:extLst>
          </p:cNvPr>
          <p:cNvCxnSpPr>
            <a:stCxn id="5" idx="2"/>
          </p:cNvCxnSpPr>
          <p:nvPr/>
        </p:nvCxnSpPr>
        <p:spPr>
          <a:xfrm>
            <a:off x="10419080" y="3180080"/>
            <a:ext cx="5080" cy="822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050C867-E802-313A-7EB6-E2B890EC5127}"/>
              </a:ext>
            </a:extLst>
          </p:cNvPr>
          <p:cNvSpPr/>
          <p:nvPr/>
        </p:nvSpPr>
        <p:spPr>
          <a:xfrm>
            <a:off x="9113520" y="4074160"/>
            <a:ext cx="2611120" cy="21031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After Cleaning</a:t>
            </a:r>
            <a:br>
              <a:rPr lang="en-IN" dirty="0"/>
            </a:br>
            <a:r>
              <a:rPr lang="en-IN" dirty="0"/>
              <a:t>547,391 records</a:t>
            </a:r>
            <a:br>
              <a:rPr lang="en-IN" dirty="0"/>
            </a:br>
            <a:r>
              <a:rPr lang="en-IN" dirty="0"/>
              <a:t>12 columns</a:t>
            </a:r>
            <a:br>
              <a:rPr lang="en-IN" dirty="0"/>
            </a:br>
            <a:r>
              <a:rPr lang="en-IN" dirty="0"/>
              <a:t>No missing values</a:t>
            </a:r>
            <a:br>
              <a:rPr lang="en-IN" dirty="0"/>
            </a:br>
            <a:r>
              <a:rPr lang="en-IN" dirty="0"/>
              <a:t>No duplicate records</a:t>
            </a:r>
          </a:p>
        </p:txBody>
      </p:sp>
    </p:spTree>
    <p:extLst>
      <p:ext uri="{BB962C8B-B14F-4D97-AF65-F5344CB8AC3E}">
        <p14:creationId xmlns:p14="http://schemas.microsoft.com/office/powerpoint/2010/main" val="1572155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3F82-6200-4147-AEBF-F8C18E7DE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204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04FBE-D0C3-A825-60E6-F93B9C448A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7" r="2226"/>
          <a:stretch>
            <a:fillRect/>
          </a:stretch>
        </p:blipFill>
        <p:spPr>
          <a:xfrm>
            <a:off x="216679" y="1310113"/>
            <a:ext cx="3983614" cy="25769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B0DA5D-21FB-6127-8902-3818D8B08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5" r="3293"/>
          <a:stretch>
            <a:fillRect/>
          </a:stretch>
        </p:blipFill>
        <p:spPr>
          <a:xfrm>
            <a:off x="4277360" y="1379031"/>
            <a:ext cx="3714349" cy="27536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AD96AF-4D50-2CA7-B766-A8FCA034E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3" r="4397"/>
          <a:stretch>
            <a:fillRect/>
          </a:stretch>
        </p:blipFill>
        <p:spPr>
          <a:xfrm>
            <a:off x="8077236" y="1216308"/>
            <a:ext cx="3983614" cy="2850044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AE7AD3FA-3930-637D-4BC7-32EDEBC20A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078077"/>
              </p:ext>
            </p:extLst>
          </p:nvPr>
        </p:nvGraphicFramePr>
        <p:xfrm>
          <a:off x="764898" y="4137741"/>
          <a:ext cx="3313473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13473">
                  <a:extLst>
                    <a:ext uri="{9D8B030D-6E8A-4147-A177-3AD203B41FA5}">
                      <a16:colId xmlns:a16="http://schemas.microsoft.com/office/drawing/2014/main" val="37849811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1. Purchase Amount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75664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BFB3931-769A-F3A1-73B0-4DF21DE18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48894"/>
              </p:ext>
            </p:extLst>
          </p:nvPr>
        </p:nvGraphicFramePr>
        <p:xfrm>
          <a:off x="5130800" y="4132661"/>
          <a:ext cx="266192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61920">
                  <a:extLst>
                    <a:ext uri="{9D8B030D-6E8A-4147-A177-3AD203B41FA5}">
                      <a16:colId xmlns:a16="http://schemas.microsoft.com/office/drawing/2014/main" val="4166717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2. Age Group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14245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EBB08C8-DA26-28E8-3D7B-AE4120D3A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176556"/>
              </p:ext>
            </p:extLst>
          </p:nvPr>
        </p:nvGraphicFramePr>
        <p:xfrm>
          <a:off x="8422640" y="4132661"/>
          <a:ext cx="349504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95040">
                  <a:extLst>
                    <a:ext uri="{9D8B030D-6E8A-4147-A177-3AD203B41FA5}">
                      <a16:colId xmlns:a16="http://schemas.microsoft.com/office/drawing/2014/main" val="538131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 Product Category 1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66986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8643CE48-A7A6-8CE4-BA63-450C1430B6B2}"/>
              </a:ext>
            </a:extLst>
          </p:cNvPr>
          <p:cNvSpPr txBox="1"/>
          <p:nvPr/>
        </p:nvSpPr>
        <p:spPr>
          <a:xfrm>
            <a:off x="677313" y="4732279"/>
            <a:ext cx="7045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amounts show variation across different spending ranges.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26–35 age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representation.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365970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25680C-9993-F125-12D8-F5F520ADC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60" y="505078"/>
            <a:ext cx="4841014" cy="2612933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D5A230-8864-8F94-F36A-9A6A7779DD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947761"/>
              </p:ext>
            </p:extLst>
          </p:nvPr>
        </p:nvGraphicFramePr>
        <p:xfrm>
          <a:off x="1925877" y="3136806"/>
          <a:ext cx="246888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5788878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4. Gender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78977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D3464F9-459E-926C-B0D8-2F421493E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4720" y="473341"/>
            <a:ext cx="5164064" cy="264466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04F4433-756E-0D0E-A576-76BD64C8C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2839"/>
              </p:ext>
            </p:extLst>
          </p:nvPr>
        </p:nvGraphicFramePr>
        <p:xfrm>
          <a:off x="7437120" y="3162818"/>
          <a:ext cx="291592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915920">
                  <a:extLst>
                    <a:ext uri="{9D8B030D-6E8A-4147-A177-3AD203B41FA5}">
                      <a16:colId xmlns:a16="http://schemas.microsoft.com/office/drawing/2014/main" val="31239625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5. City Category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30219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C8148F2-9336-E0BE-9068-E1A8E4CBF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93" y="3533658"/>
            <a:ext cx="4841014" cy="2715527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9AF8B0C-6492-88B7-2BE2-CCAEE4B34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75260"/>
              </p:ext>
            </p:extLst>
          </p:nvPr>
        </p:nvGraphicFramePr>
        <p:xfrm>
          <a:off x="1353707" y="6223358"/>
          <a:ext cx="40640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29563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6. Stay in Current City Years Distribution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68787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83669192-333F-08BA-CDA1-B3C122040907}"/>
              </a:ext>
            </a:extLst>
          </p:cNvPr>
          <p:cNvSpPr txBox="1"/>
          <p:nvPr/>
        </p:nvSpPr>
        <p:spPr>
          <a:xfrm>
            <a:off x="6337770" y="3507646"/>
            <a:ext cx="51640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Male customers have higher representation than female customers in the dataset.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City Category B has the highest representation, followed by City Categories C and A.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Customers who stayed in their current city for 1 year have the highest representation.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4+ years and 0 years categories have comparatively lower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514323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74EC-E7C2-CBCF-E751-F8F51293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919"/>
            <a:ext cx="10515600" cy="975995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88D336-5983-BA01-06F3-94924C2C2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56" y="903738"/>
            <a:ext cx="4607724" cy="2316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C3F303-3429-F893-8074-73707EE139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21"/>
          <a:stretch>
            <a:fillRect/>
          </a:stretch>
        </p:blipFill>
        <p:spPr>
          <a:xfrm>
            <a:off x="6518664" y="594337"/>
            <a:ext cx="4533407" cy="2664581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164DF1-EFD0-FD69-13C2-705D76676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84441"/>
              </p:ext>
            </p:extLst>
          </p:nvPr>
        </p:nvGraphicFramePr>
        <p:xfrm>
          <a:off x="1483436" y="3258918"/>
          <a:ext cx="3245861" cy="3784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245861">
                  <a:extLst>
                    <a:ext uri="{9D8B030D-6E8A-4147-A177-3AD203B41FA5}">
                      <a16:colId xmlns:a16="http://schemas.microsoft.com/office/drawing/2014/main" val="214823651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r>
                        <a:rPr lang="en-IN" dirty="0"/>
                        <a:t>1. Purchase Amount by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7785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DF1B98-53EA-6AC8-20C8-469D6AF9C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758290"/>
              </p:ext>
            </p:extLst>
          </p:nvPr>
        </p:nvGraphicFramePr>
        <p:xfrm>
          <a:off x="7274484" y="3258918"/>
          <a:ext cx="343408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434080">
                  <a:extLst>
                    <a:ext uri="{9D8B030D-6E8A-4147-A177-3AD203B41FA5}">
                      <a16:colId xmlns:a16="http://schemas.microsoft.com/office/drawing/2014/main" val="791913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2. Purchase Amount by Age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918263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1D3E7511-F4A3-C899-6A59-5B6584D5CEBC}"/>
              </a:ext>
            </a:extLst>
          </p:cNvPr>
          <p:cNvSpPr txBox="1"/>
          <p:nvPr/>
        </p:nvSpPr>
        <p:spPr>
          <a:xfrm>
            <a:off x="838200" y="4054442"/>
            <a:ext cx="631614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and female purchase distributions are broadly similar, with the male median slightly higher.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amounts are distributed across all age groups, with differences in spread and density. </a:t>
            </a:r>
          </a:p>
        </p:txBody>
      </p:sp>
    </p:spTree>
    <p:extLst>
      <p:ext uri="{BB962C8B-B14F-4D97-AF65-F5344CB8AC3E}">
        <p14:creationId xmlns:p14="http://schemas.microsoft.com/office/powerpoint/2010/main" val="907378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7FEFD4-D10E-BB30-E87E-59D81C891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31" y="486249"/>
            <a:ext cx="4404829" cy="30213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D82531-FAB2-6D34-49D0-4DB9C5C2EE54}"/>
              </a:ext>
            </a:extLst>
          </p:cNvPr>
          <p:cNvSpPr txBox="1"/>
          <p:nvPr/>
        </p:nvSpPr>
        <p:spPr>
          <a:xfrm>
            <a:off x="685331" y="4020108"/>
            <a:ext cx="71526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 distributions across City Categories A, B and C are broadly similar.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Category C has a slightly higher median purchase amount.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 amounts vary considerably across Product Category 1.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6, 7, 10, 15 and 16 show relatively high average purchase amounts.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B43842-69A9-11B8-3CD7-6266186780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"/>
          <a:stretch>
            <a:fillRect/>
          </a:stretch>
        </p:blipFill>
        <p:spPr>
          <a:xfrm>
            <a:off x="6563360" y="486248"/>
            <a:ext cx="4404828" cy="2942751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305CC3A-3ABE-6810-8101-77EDBD360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415761"/>
              </p:ext>
            </p:extLst>
          </p:nvPr>
        </p:nvGraphicFramePr>
        <p:xfrm>
          <a:off x="6467309" y="3507590"/>
          <a:ext cx="503936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039360">
                  <a:extLst>
                    <a:ext uri="{9D8B030D-6E8A-4147-A177-3AD203B41FA5}">
                      <a16:colId xmlns:a16="http://schemas.microsoft.com/office/drawing/2014/main" val="47952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4. Average Purchase Amount by Product Category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96696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24B35A-3AB5-0B8B-BBF9-2F471020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5141"/>
              </p:ext>
            </p:extLst>
          </p:nvPr>
        </p:nvGraphicFramePr>
        <p:xfrm>
          <a:off x="1332920" y="3507590"/>
          <a:ext cx="384868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48680">
                  <a:extLst>
                    <a:ext uri="{9D8B030D-6E8A-4147-A177-3AD203B41FA5}">
                      <a16:colId xmlns:a16="http://schemas.microsoft.com/office/drawing/2014/main" val="4795201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 Purchase Amount by City Category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966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480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35FE-3F6E-080B-E371-F5DD13D61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30"/>
            <a:ext cx="10515600" cy="80745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5AD8F7-56CC-74D3-78E6-F9C13F04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7"/>
          <a:stretch>
            <a:fillRect/>
          </a:stretch>
        </p:blipFill>
        <p:spPr>
          <a:xfrm>
            <a:off x="367424" y="1330965"/>
            <a:ext cx="4667521" cy="27327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BD8505-11BD-7CAD-04E1-E1517F83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4" y="4466904"/>
            <a:ext cx="4667521" cy="23295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536BD4-EDE3-6843-2CC8-DC053C53CB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09"/>
          <a:stretch>
            <a:fillRect/>
          </a:stretch>
        </p:blipFill>
        <p:spPr>
          <a:xfrm>
            <a:off x="5973185" y="1330978"/>
            <a:ext cx="5565672" cy="265713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B551C48-F9A0-5BF9-C6FD-5691BDAFE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237422"/>
              </p:ext>
            </p:extLst>
          </p:nvPr>
        </p:nvGraphicFramePr>
        <p:xfrm>
          <a:off x="111723" y="892100"/>
          <a:ext cx="543560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435600">
                  <a:extLst>
                    <a:ext uri="{9D8B030D-6E8A-4147-A177-3AD203B41FA5}">
                      <a16:colId xmlns:a16="http://schemas.microsoft.com/office/drawing/2014/main" val="1467917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1. Average Purchase Amount by Age Group and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91778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34AD8BE-B84F-D057-1140-186839B1B5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650220"/>
              </p:ext>
            </p:extLst>
          </p:nvPr>
        </p:nvGraphicFramePr>
        <p:xfrm>
          <a:off x="111723" y="4063706"/>
          <a:ext cx="5707744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707744">
                  <a:extLst>
                    <a:ext uri="{9D8B030D-6E8A-4147-A177-3AD203B41FA5}">
                      <a16:colId xmlns:a16="http://schemas.microsoft.com/office/drawing/2014/main" val="834823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2. Average Purchase Amount by City Category and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40735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08F627-7E1E-3D6D-D80F-CCF65EE95D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7748615"/>
              </p:ext>
            </p:extLst>
          </p:nvPr>
        </p:nvGraphicFramePr>
        <p:xfrm>
          <a:off x="5706206" y="884549"/>
          <a:ext cx="6056086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56086">
                  <a:extLst>
                    <a:ext uri="{9D8B030D-6E8A-4147-A177-3AD203B41FA5}">
                      <a16:colId xmlns:a16="http://schemas.microsoft.com/office/drawing/2014/main" val="641923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 Average Purchase Amount by Product Category and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2948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8FA4D86-A31F-6926-2C7A-56F75D1A508E}"/>
              </a:ext>
            </a:extLst>
          </p:cNvPr>
          <p:cNvSpPr txBox="1"/>
          <p:nvPr/>
        </p:nvSpPr>
        <p:spPr>
          <a:xfrm>
            <a:off x="5973185" y="39881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show higher average purchase amounts than female customers across all age groups.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Category C has the highest average purchase amount for both genders.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 amount varies considerably across Product Category 1.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differences in average purchase amount vary across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2017892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8F94C-CEE1-1CE3-7DBC-3A2AC53C6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Analysis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EAB16B-4BEA-445C-8857-D2B486614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893002"/>
              </p:ext>
            </p:extLst>
          </p:nvPr>
        </p:nvGraphicFramePr>
        <p:xfrm>
          <a:off x="838200" y="1229360"/>
          <a:ext cx="6710680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710680">
                  <a:extLst>
                    <a:ext uri="{9D8B030D-6E8A-4147-A177-3AD203B41FA5}">
                      <a16:colId xmlns:a16="http://schemas.microsoft.com/office/drawing/2014/main" val="406103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Pivot Table - Average Purchase Amount by City Category and Gender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11623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EE92ADB-4160-5199-7E4C-0740E4EC9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06494"/>
              </p:ext>
            </p:extLst>
          </p:nvPr>
        </p:nvGraphicFramePr>
        <p:xfrm>
          <a:off x="1211580" y="1876534"/>
          <a:ext cx="5016501" cy="190605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672167">
                  <a:extLst>
                    <a:ext uri="{9D8B030D-6E8A-4147-A177-3AD203B41FA5}">
                      <a16:colId xmlns:a16="http://schemas.microsoft.com/office/drawing/2014/main" val="3713248309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2432183036"/>
                    </a:ext>
                  </a:extLst>
                </a:gridCol>
                <a:gridCol w="1672167">
                  <a:extLst>
                    <a:ext uri="{9D8B030D-6E8A-4147-A177-3AD203B41FA5}">
                      <a16:colId xmlns:a16="http://schemas.microsoft.com/office/drawing/2014/main" val="1257933053"/>
                    </a:ext>
                  </a:extLst>
                </a:gridCol>
              </a:tblGrid>
              <a:tr h="7022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City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694209"/>
                  </a:ext>
                </a:extLst>
              </a:tr>
              <a:tr h="401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8,516.90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8,950.11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5845427"/>
                  </a:ext>
                </a:extLst>
              </a:tr>
              <a:tr h="401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8,483.13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9,287.83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095148"/>
                  </a:ext>
                </a:extLst>
              </a:tr>
              <a:tr h="4012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9,058.25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9,838.61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119216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0384A0-7B93-3D80-617D-6CF906384FAB}"/>
              </a:ext>
            </a:extLst>
          </p:cNvPr>
          <p:cNvSpPr txBox="1"/>
          <p:nvPr/>
        </p:nvSpPr>
        <p:spPr>
          <a:xfrm>
            <a:off x="6583680" y="3429000"/>
            <a:ext cx="4937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Category C has the highest average purchase amount for both genders.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have a higher average purchase amount than female customers in all three city categories.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 provide a numerical summary for comparing groups.</a:t>
            </a:r>
          </a:p>
        </p:txBody>
      </p:sp>
    </p:spTree>
    <p:extLst>
      <p:ext uri="{BB962C8B-B14F-4D97-AF65-F5344CB8AC3E}">
        <p14:creationId xmlns:p14="http://schemas.microsoft.com/office/powerpoint/2010/main" val="91228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D10AD-458C-A38A-2E07-97DACF8D1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&amp; Non-Visual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A9537-B341-59C2-ED96-2F77FB8DC048}"/>
              </a:ext>
            </a:extLst>
          </p:cNvPr>
          <p:cNvSpPr txBox="1"/>
          <p:nvPr/>
        </p:nvSpPr>
        <p:spPr>
          <a:xfrm>
            <a:off x="838200" y="1320740"/>
            <a:ext cx="992124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26–35 age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representation.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Category B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transactions.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5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number of transactions.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amounts vary considerably across product categories.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Non-Visual Insights — Pivot Tables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51–55 age group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purchase amount for both genders.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Category C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highest average purchase amount for both genders.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purchase amount differs considerably across Product Category 1.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customers have higher average purchase amounts across the age-group and city-category comparisons.</a:t>
            </a:r>
          </a:p>
        </p:txBody>
      </p:sp>
    </p:spTree>
    <p:extLst>
      <p:ext uri="{BB962C8B-B14F-4D97-AF65-F5344CB8AC3E}">
        <p14:creationId xmlns:p14="http://schemas.microsoft.com/office/powerpoint/2010/main" val="2839633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010B-2144-6358-498B-1990854C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FAFB8-B0E9-28AA-007D-994A16C6EDAA}"/>
              </a:ext>
            </a:extLst>
          </p:cNvPr>
          <p:cNvSpPr txBox="1"/>
          <p:nvPr/>
        </p:nvSpPr>
        <p:spPr>
          <a:xfrm>
            <a:off x="838200" y="1228397"/>
            <a:ext cx="831596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 in product category columns.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and treating purchase amount outliers.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relationships between categorical and numerical variables.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visualizations for EDA.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Learnings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to perform data cleaning using Pandas.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univariate, bivariate and multivariate analysis.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create and interpret visualizations using Matplotlib and Seaborn.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pivot tables help summarize data and identify patterns.</a:t>
            </a:r>
          </a:p>
        </p:txBody>
      </p:sp>
    </p:spTree>
    <p:extLst>
      <p:ext uri="{BB962C8B-B14F-4D97-AF65-F5344CB8AC3E}">
        <p14:creationId xmlns:p14="http://schemas.microsoft.com/office/powerpoint/2010/main" val="3571142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AF73-3FF5-1ED4-A2CF-FDA909B73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296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BE4EE-B2C5-C3BF-547C-8B28CF94C787}"/>
              </a:ext>
            </a:extLst>
          </p:cNvPr>
          <p:cNvSpPr txBox="1"/>
          <p:nvPr/>
        </p:nvSpPr>
        <p:spPr>
          <a:xfrm>
            <a:off x="740228" y="1563841"/>
            <a:ext cx="9982200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Black Friday dataset was successfully cleaned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EDA techniques.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demographics, city categories and product categories show differences in purchasing behaviour.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amounts vary considerably across different product categories.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 analysis provided numerical comparisons of average purchase amounts across different groups.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provides useful insights into customer spending patterns in the retail and e-commerce domain.</a:t>
            </a:r>
          </a:p>
        </p:txBody>
      </p:sp>
    </p:spTree>
    <p:extLst>
      <p:ext uri="{BB962C8B-B14F-4D97-AF65-F5344CB8AC3E}">
        <p14:creationId xmlns:p14="http://schemas.microsoft.com/office/powerpoint/2010/main" val="339072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743</TotalTime>
  <Words>1090</Words>
  <Application>Microsoft Office PowerPoint</Application>
  <PresentationFormat>Widescreen</PresentationFormat>
  <Paragraphs>158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 &amp; Problem Statement</vt:lpstr>
      <vt:lpstr>Why This Project?</vt:lpstr>
      <vt:lpstr>Dataset Information</vt:lpstr>
      <vt:lpstr>Understanding the Dataset</vt:lpstr>
      <vt:lpstr>Data Cleaning &amp; Preparation</vt:lpstr>
      <vt:lpstr>Univariate Analysis</vt:lpstr>
      <vt:lpstr>PowerPoint Presentation</vt:lpstr>
      <vt:lpstr>Bivariate Analysis</vt:lpstr>
      <vt:lpstr>PowerPoint Presentation</vt:lpstr>
      <vt:lpstr>Multivariate Analysis</vt:lpstr>
      <vt:lpstr>Pivot Table Analysis</vt:lpstr>
      <vt:lpstr>Visual &amp; Non-Visual Insights</vt:lpstr>
      <vt:lpstr>Challenges &amp; Learnings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yuktha polagani</dc:creator>
  <cp:lastModifiedBy>yuktha polagani</cp:lastModifiedBy>
  <cp:revision>3</cp:revision>
  <dcterms:created xsi:type="dcterms:W3CDTF">2026-09-12T08:37:47Z</dcterms:created>
  <dcterms:modified xsi:type="dcterms:W3CDTF">2026-09-18T10:43:04Z</dcterms:modified>
</cp:coreProperties>
</file>